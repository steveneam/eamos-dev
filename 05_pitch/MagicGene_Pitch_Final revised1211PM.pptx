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1" r:id="rId2"/>
    <p:sldId id="263" r:id="rId3"/>
    <p:sldId id="260" r:id="rId4"/>
    <p:sldId id="264" r:id="rId5"/>
    <p:sldId id="258" r:id="rId6"/>
    <p:sldId id="262" r:id="rId7"/>
    <p:sldId id="256" r:id="rId8"/>
    <p:sldId id="257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82333"/>
  </p:normalViewPr>
  <p:slideViewPr>
    <p:cSldViewPr snapToGrid="0" snapToObjects="1">
      <p:cViewPr>
        <p:scale>
          <a:sx n="160" d="100"/>
          <a:sy n="160" d="100"/>
        </p:scale>
        <p:origin x="136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62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86305-6555-7BF3-0141-4F9B3D57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B9376-74E2-7C3C-3E36-44EC89A99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CD015-D6FC-9A56-61D3-AC7C3421A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C952A-319F-4CD9-F997-DD7A499B3B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03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DCA3-743B-B24B-95F7-4044B7F6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E402A-A9B1-5563-B904-3B03CD627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409E0-2942-ED73-2264-9E3637367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10B11-D194-6C3E-BF1F-7EDB8738B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7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89125-C49A-2DD4-9859-ABC3CD58D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AE785-94B7-BB04-13E3-82F8E7803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4B339-AC41-2CAB-073B-664CF9E9C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5A902-1B2A-9F05-EF78-5B97BB2EE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0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7025-B51F-32DD-40A7-9906439E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38283-8A3C-AED5-E558-726F21F2F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C848C-DCB8-7E6F-BEAD-C5A918DAB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9CB0B-6193-47B9-A6BB-545018593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47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E299-3E3E-E1CD-12A5-42886E1D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C3D3D-85EA-66F8-F126-45468D126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FE6A7-ED1D-5E4C-8D6D-AD8AECE08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AFA2A-93CE-2EDE-6C57-F15B9A464B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17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74C72-6558-D379-FBB9-ABBE415C5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0289533-B7DE-7273-46A7-2C795140667A}"/>
              </a:ext>
            </a:extLst>
          </p:cNvPr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1107441-B8CC-4124-EAF4-702C40A59778}"/>
              </a:ext>
            </a:extLst>
          </p:cNvPr>
          <p:cNvSpPr/>
          <p:nvPr/>
        </p:nvSpPr>
        <p:spPr>
          <a:xfrm>
            <a:off x="237744" y="256032"/>
            <a:ext cx="2286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3D8B5E-E152-C0F1-2521-457F54EF7F0D}"/>
              </a:ext>
            </a:extLst>
          </p:cNvPr>
          <p:cNvSpPr/>
          <p:nvPr/>
        </p:nvSpPr>
        <p:spPr>
          <a:xfrm>
            <a:off x="237744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HSIL HACKATHON 2026  —  APRIL 11</a:t>
            </a:r>
            <a:endParaRPr lang="en-US" sz="6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587128F-D29D-77E6-E754-D81DFA210C0E}"/>
              </a:ext>
            </a:extLst>
          </p:cNvPr>
          <p:cNvSpPr/>
          <p:nvPr/>
        </p:nvSpPr>
        <p:spPr>
          <a:xfrm>
            <a:off x="754912" y="714721"/>
            <a:ext cx="7634176" cy="2534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</a:t>
            </a:r>
            <a:r>
              <a:rPr lang="en-US" sz="100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10000" dirty="0">
              <a:solidFill>
                <a:srgbClr val="92D050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0319BBB-D27F-C007-CB8B-7E3EBB2B4813}"/>
              </a:ext>
            </a:extLst>
          </p:cNvPr>
          <p:cNvSpPr/>
          <p:nvPr/>
        </p:nvSpPr>
        <p:spPr>
          <a:xfrm>
            <a:off x="1380743" y="2759148"/>
            <a:ext cx="6402289" cy="217968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4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2D564A-94B7-1D33-58D1-77B65D4FA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B1C05BA-28FE-320F-78E7-758BAEA445D4}"/>
              </a:ext>
            </a:extLst>
          </p:cNvPr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68F386-B1CB-4A56-9432-EBEFA2BD7EA0}"/>
              </a:ext>
            </a:extLst>
          </p:cNvPr>
          <p:cNvSpPr/>
          <p:nvPr/>
        </p:nvSpPr>
        <p:spPr>
          <a:xfrm>
            <a:off x="237744" y="256032"/>
            <a:ext cx="2286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E7F824E-1541-CE5C-A312-ECDCC5A1B42A}"/>
              </a:ext>
            </a:extLst>
          </p:cNvPr>
          <p:cNvSpPr/>
          <p:nvPr/>
        </p:nvSpPr>
        <p:spPr>
          <a:xfrm>
            <a:off x="237744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HSIL HACKATHON 2026  —  APRIL 11</a:t>
            </a:r>
            <a:endParaRPr lang="en-US" sz="6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419E8F-7427-E8DE-6DB9-C6874D89F8CB}"/>
              </a:ext>
            </a:extLst>
          </p:cNvPr>
          <p:cNvSpPr/>
          <p:nvPr/>
        </p:nvSpPr>
        <p:spPr>
          <a:xfrm>
            <a:off x="237744" y="502920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</a:t>
            </a:r>
            <a:r>
              <a:rPr lang="en-US" sz="46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4600" dirty="0">
              <a:solidFill>
                <a:srgbClr val="92D050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811D612-F035-6CDB-04F2-4E2732C31AB8}"/>
              </a:ext>
            </a:extLst>
          </p:cNvPr>
          <p:cNvSpPr/>
          <p:nvPr/>
        </p:nvSpPr>
        <p:spPr>
          <a:xfrm>
            <a:off x="237743" y="1143000"/>
            <a:ext cx="2834319" cy="45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AD67501-3268-16EC-8244-D6DF122F7FCF}"/>
              </a:ext>
            </a:extLst>
          </p:cNvPr>
          <p:cNvSpPr/>
          <p:nvPr/>
        </p:nvSpPr>
        <p:spPr>
          <a:xfrm>
            <a:off x="237744" y="1344168"/>
            <a:ext cx="32433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A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assistant for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i="1" dirty="0">
                <a:solidFill>
                  <a:srgbClr val="A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retinal disease</a:t>
            </a:r>
            <a:endParaRPr lang="en-US" sz="2000" b="1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1021141-2E56-A9B9-9582-E43E0B508853}"/>
              </a:ext>
            </a:extLst>
          </p:cNvPr>
          <p:cNvSpPr/>
          <p:nvPr/>
        </p:nvSpPr>
        <p:spPr>
          <a:xfrm>
            <a:off x="210312" y="1975104"/>
            <a:ext cx="3127248" cy="1435608"/>
          </a:xfrm>
          <a:prstGeom prst="rect">
            <a:avLst/>
          </a:prstGeom>
          <a:solidFill>
            <a:srgbClr val="0D2035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8BF470D-EA02-58F9-4F37-819FBCA61EF5}"/>
              </a:ext>
            </a:extLst>
          </p:cNvPr>
          <p:cNvSpPr/>
          <p:nvPr/>
        </p:nvSpPr>
        <p:spPr>
          <a:xfrm>
            <a:off x="295335" y="2040745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Addresses HSIL Challenges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13F7D0-A8E6-29F6-D1D4-4743E1B60AAD}"/>
              </a:ext>
            </a:extLst>
          </p:cNvPr>
          <p:cNvSpPr/>
          <p:nvPr/>
        </p:nvSpPr>
        <p:spPr>
          <a:xfrm>
            <a:off x="347472" y="235425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8F9FA"/>
                </a:solidFill>
              </a:rPr>
              <a:t>#1  EHR Analysis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5436F03-694D-59C7-F239-552F1AC917F9}"/>
              </a:ext>
            </a:extLst>
          </p:cNvPr>
          <p:cNvSpPr/>
          <p:nvPr/>
        </p:nvSpPr>
        <p:spPr>
          <a:xfrm>
            <a:off x="347472" y="259199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8F9FA"/>
                </a:solidFill>
              </a:rPr>
              <a:t>#4  Fragmentation of Care</a:t>
            </a:r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A7C3FFC-06D5-2169-9A91-441ECD8F2AF5}"/>
              </a:ext>
            </a:extLst>
          </p:cNvPr>
          <p:cNvSpPr/>
          <p:nvPr/>
        </p:nvSpPr>
        <p:spPr>
          <a:xfrm>
            <a:off x="347472" y="2882157"/>
            <a:ext cx="2926080" cy="391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8F9FA"/>
                </a:solidFill>
              </a:rPr>
              <a:t>#6  Healthcare Worker Shortage</a:t>
            </a: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36A6E79-0EF2-D1F8-ECB2-6B4618EF227E}"/>
              </a:ext>
            </a:extLst>
          </p:cNvPr>
          <p:cNvSpPr/>
          <p:nvPr/>
        </p:nvSpPr>
        <p:spPr>
          <a:xfrm>
            <a:off x="286191" y="356616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</a:rPr>
              <a:t>Post-Hackathon Roadmap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E2366B5-9600-EFD0-A748-38C294FF19D1}"/>
              </a:ext>
            </a:extLst>
          </p:cNvPr>
          <p:cNvSpPr/>
          <p:nvPr/>
        </p:nvSpPr>
        <p:spPr>
          <a:xfrm>
            <a:off x="301752" y="3872197"/>
            <a:ext cx="2944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  Expand step 1 variants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FA1BBCF-9D20-A357-A076-E26C12908F3A}"/>
              </a:ext>
            </a:extLst>
          </p:cNvPr>
          <p:cNvSpPr/>
          <p:nvPr/>
        </p:nvSpPr>
        <p:spPr>
          <a:xfrm>
            <a:off x="286191" y="4141823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→  Step 2: Patient report generation  = today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2189182-AF6B-5041-C95B-7EEABE97B0A3}"/>
              </a:ext>
            </a:extLst>
          </p:cNvPr>
          <p:cNvSpPr/>
          <p:nvPr/>
        </p:nvSpPr>
        <p:spPr>
          <a:xfrm>
            <a:off x="277047" y="4637071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  Expand step 3 usage in triage and treatment</a:t>
            </a:r>
            <a:endParaRPr lang="en-US" sz="14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5D529FD-0694-E699-4E19-B999ACEBE888}"/>
              </a:ext>
            </a:extLst>
          </p:cNvPr>
          <p:cNvSpPr/>
          <p:nvPr/>
        </p:nvSpPr>
        <p:spPr>
          <a:xfrm>
            <a:off x="3636334" y="0"/>
            <a:ext cx="5486400" cy="502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6AC3C15-B083-9F8F-48D8-0A22E8196C7B}"/>
              </a:ext>
            </a:extLst>
          </p:cNvPr>
          <p:cNvSpPr/>
          <p:nvPr/>
        </p:nvSpPr>
        <p:spPr>
          <a:xfrm>
            <a:off x="3749040" y="1335024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</a:t>
            </a: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B52193B-BF14-FBA3-515F-4DFAB4CEE685}"/>
              </a:ext>
            </a:extLst>
          </p:cNvPr>
          <p:cNvSpPr/>
          <p:nvPr/>
        </p:nvSpPr>
        <p:spPr>
          <a:xfrm>
            <a:off x="4910167" y="1717652"/>
            <a:ext cx="10244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800" dirty="0">
              <a:solidFill>
                <a:srgbClr val="FFC000"/>
              </a:solidFill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7A3D780-29F7-EDE1-F8FC-B390DB015E3D}"/>
              </a:ext>
            </a:extLst>
          </p:cNvPr>
          <p:cNvSpPr/>
          <p:nvPr/>
        </p:nvSpPr>
        <p:spPr>
          <a:xfrm>
            <a:off x="5908193" y="1463040"/>
            <a:ext cx="36576" cy="1115568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2659E00-3F42-491C-9F9E-D05AD49AD259}"/>
              </a:ext>
            </a:extLst>
          </p:cNvPr>
          <p:cNvSpPr/>
          <p:nvPr/>
        </p:nvSpPr>
        <p:spPr>
          <a:xfrm>
            <a:off x="6221893" y="1353312"/>
            <a:ext cx="2830667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from genetic test to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patient report — today.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Clinicians are drowning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 manual data wrangling.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DC3E7A6-07BA-BEEB-4BA7-146541A95709}"/>
              </a:ext>
            </a:extLst>
          </p:cNvPr>
          <p:cNvSpPr/>
          <p:nvPr/>
        </p:nvSpPr>
        <p:spPr>
          <a:xfrm>
            <a:off x="5468112" y="184300"/>
            <a:ext cx="1737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97E34DA-1F69-51B6-3A34-A8791D808131}"/>
              </a:ext>
            </a:extLst>
          </p:cNvPr>
          <p:cNvSpPr/>
          <p:nvPr/>
        </p:nvSpPr>
        <p:spPr>
          <a:xfrm>
            <a:off x="5468112" y="184300"/>
            <a:ext cx="1737360" cy="502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D2374EF-811A-E388-022E-28537E926005}"/>
              </a:ext>
            </a:extLst>
          </p:cNvPr>
          <p:cNvSpPr/>
          <p:nvPr/>
        </p:nvSpPr>
        <p:spPr>
          <a:xfrm>
            <a:off x="5468112" y="2391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1/2000</a:t>
            </a:r>
            <a:endParaRPr lang="en-US" sz="2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37C1673-6261-D672-BB0C-A5181A8C89F3}"/>
              </a:ext>
            </a:extLst>
          </p:cNvPr>
          <p:cNvSpPr/>
          <p:nvPr/>
        </p:nvSpPr>
        <p:spPr>
          <a:xfrm>
            <a:off x="5468112" y="7055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people worldwide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affected by IRDs</a:t>
            </a:r>
            <a:endParaRPr lang="en-US" sz="14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3572386-A92A-6543-2D2C-318B1AE59846}"/>
              </a:ext>
            </a:extLst>
          </p:cNvPr>
          <p:cNvSpPr/>
          <p:nvPr/>
        </p:nvSpPr>
        <p:spPr>
          <a:xfrm>
            <a:off x="7296912" y="184300"/>
            <a:ext cx="1737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82B0DF8-4939-6E84-3685-500185107491}"/>
              </a:ext>
            </a:extLst>
          </p:cNvPr>
          <p:cNvSpPr/>
          <p:nvPr/>
        </p:nvSpPr>
        <p:spPr>
          <a:xfrm>
            <a:off x="7296912" y="184300"/>
            <a:ext cx="1737360" cy="502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CF81A9C-CDD4-6584-B67C-21494A7FDCCB}"/>
              </a:ext>
            </a:extLst>
          </p:cNvPr>
          <p:cNvSpPr/>
          <p:nvPr/>
        </p:nvSpPr>
        <p:spPr>
          <a:xfrm>
            <a:off x="7296912" y="2391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AU$5M</a:t>
            </a:r>
            <a:endParaRPr lang="en-US" sz="2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48CE1C7-DA29-52AE-EBCD-CA83569D5706}"/>
              </a:ext>
            </a:extLst>
          </p:cNvPr>
          <p:cNvSpPr/>
          <p:nvPr/>
        </p:nvSpPr>
        <p:spPr>
          <a:xfrm>
            <a:off x="7296912" y="7055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per person per lifetime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in healthcare costs</a:t>
            </a:r>
            <a:endParaRPr lang="en-US" sz="14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0DB3C92-09BA-716E-4914-B231E7F2DA8F}"/>
              </a:ext>
            </a:extLst>
          </p:cNvPr>
          <p:cNvSpPr/>
          <p:nvPr/>
        </p:nvSpPr>
        <p:spPr>
          <a:xfrm>
            <a:off x="3639312" y="182880"/>
            <a:ext cx="1737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EF47A2F-04FE-20DD-A29B-470D8D4AD79A}"/>
              </a:ext>
            </a:extLst>
          </p:cNvPr>
          <p:cNvSpPr/>
          <p:nvPr/>
        </p:nvSpPr>
        <p:spPr>
          <a:xfrm>
            <a:off x="3639312" y="182880"/>
            <a:ext cx="1737360" cy="502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858C2D9-57D3-774D-4E2E-910454D9B53F}"/>
              </a:ext>
            </a:extLst>
          </p:cNvPr>
          <p:cNvSpPr/>
          <p:nvPr/>
        </p:nvSpPr>
        <p:spPr>
          <a:xfrm>
            <a:off x="3639312" y="2377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1/20</a:t>
            </a:r>
            <a:endParaRPr lang="en-US" sz="22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6CCC6A9-330E-BB62-3D2D-67E8F9E03AB2}"/>
              </a:ext>
            </a:extLst>
          </p:cNvPr>
          <p:cNvSpPr/>
          <p:nvPr/>
        </p:nvSpPr>
        <p:spPr>
          <a:xfrm>
            <a:off x="3639312" y="704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people affected by genetic diseases</a:t>
            </a:r>
            <a:endParaRPr lang="en-US" sz="14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154EE23-8399-728F-6701-B4AF0E884869}"/>
              </a:ext>
            </a:extLst>
          </p:cNvPr>
          <p:cNvSpPr/>
          <p:nvPr/>
        </p:nvSpPr>
        <p:spPr>
          <a:xfrm>
            <a:off x="3657600" y="265176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The Pipeline — where Magic Gene sits:</a:t>
            </a:r>
            <a:endParaRPr lang="en-US" sz="16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ACACAB9-A6CE-20BE-8377-0276BB405C14}"/>
              </a:ext>
            </a:extLst>
          </p:cNvPr>
          <p:cNvSpPr/>
          <p:nvPr/>
        </p:nvSpPr>
        <p:spPr>
          <a:xfrm>
            <a:off x="3657600" y="2907792"/>
            <a:ext cx="1719072" cy="1261872"/>
          </a:xfrm>
          <a:prstGeom prst="rect">
            <a:avLst/>
          </a:prstGeom>
          <a:solidFill>
            <a:srgbClr val="122035"/>
          </a:solidFill>
          <a:ln w="6350">
            <a:solidFill>
              <a:srgbClr val="1A3A5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5DA9784-12EF-4DA2-E17C-ABFB7FEE9705}"/>
              </a:ext>
            </a:extLst>
          </p:cNvPr>
          <p:cNvSpPr/>
          <p:nvPr/>
        </p:nvSpPr>
        <p:spPr>
          <a:xfrm>
            <a:off x="3657600" y="2907792"/>
            <a:ext cx="1719072" cy="50292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3451AC6-1EA0-EA74-87EE-D8DB9E8FD7F1}"/>
              </a:ext>
            </a:extLst>
          </p:cNvPr>
          <p:cNvSpPr/>
          <p:nvPr/>
        </p:nvSpPr>
        <p:spPr>
          <a:xfrm>
            <a:off x="3657600" y="2944368"/>
            <a:ext cx="329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4A3B8"/>
                </a:solidFill>
              </a:rPr>
              <a:t>1</a:t>
            </a:r>
            <a:endParaRPr lang="en-US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72BC0F4-4FD1-894C-38F0-38F62EE63DEC}"/>
              </a:ext>
            </a:extLst>
          </p:cNvPr>
          <p:cNvSpPr/>
          <p:nvPr/>
        </p:nvSpPr>
        <p:spPr>
          <a:xfrm>
            <a:off x="3657600" y="315361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Variant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Filtering</a:t>
            </a:r>
            <a:endParaRPr lang="en-US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7896A69-29A4-0120-549B-E817BBEE092F}"/>
              </a:ext>
            </a:extLst>
          </p:cNvPr>
          <p:cNvSpPr/>
          <p:nvPr/>
        </p:nvSpPr>
        <p:spPr>
          <a:xfrm>
            <a:off x="3657600" y="36214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5A7A"/>
                </a:solidFill>
              </a:rPr>
              <a:t>Sequencing 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A5A7A"/>
                </a:solidFill>
              </a:rPr>
              <a:t>relevant variants</a:t>
            </a:r>
            <a:endParaRPr lang="en-US" sz="14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D22204E-3A99-011C-5ACD-907DEA1C7244}"/>
              </a:ext>
            </a:extLst>
          </p:cNvPr>
          <p:cNvSpPr/>
          <p:nvPr/>
        </p:nvSpPr>
        <p:spPr>
          <a:xfrm>
            <a:off x="5358384" y="320040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4A6A"/>
                </a:solidFill>
              </a:rPr>
              <a:t>→</a:t>
            </a:r>
            <a:endParaRPr lang="en-US" sz="11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47CA2D1F-C909-D213-7D24-4B8F3D43D942}"/>
              </a:ext>
            </a:extLst>
          </p:cNvPr>
          <p:cNvSpPr/>
          <p:nvPr/>
        </p:nvSpPr>
        <p:spPr>
          <a:xfrm>
            <a:off x="5486400" y="2907792"/>
            <a:ext cx="1719072" cy="1261872"/>
          </a:xfrm>
          <a:prstGeom prst="rect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190900C-714F-A009-953F-C70858544136}"/>
              </a:ext>
            </a:extLst>
          </p:cNvPr>
          <p:cNvSpPr/>
          <p:nvPr/>
        </p:nvSpPr>
        <p:spPr>
          <a:xfrm>
            <a:off x="5486400" y="2907792"/>
            <a:ext cx="1719072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CCB9F077-0652-089D-FD90-E4224BE6E0E8}"/>
              </a:ext>
            </a:extLst>
          </p:cNvPr>
          <p:cNvSpPr/>
          <p:nvPr/>
        </p:nvSpPr>
        <p:spPr>
          <a:xfrm>
            <a:off x="5486400" y="2944368"/>
            <a:ext cx="3173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</a:rPr>
              <a:t>2</a:t>
            </a:r>
            <a:endParaRPr lang="en-US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04C039C-DB83-0723-0B26-A46B45F92DCD}"/>
              </a:ext>
            </a:extLst>
          </p:cNvPr>
          <p:cNvSpPr/>
          <p:nvPr/>
        </p:nvSpPr>
        <p:spPr>
          <a:xfrm>
            <a:off x="5486400" y="315361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Report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Generation</a:t>
            </a:r>
            <a:endParaRPr lang="en-US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942FB5E-C4F2-A385-9CBE-8DB5006517A5}"/>
              </a:ext>
            </a:extLst>
          </p:cNvPr>
          <p:cNvSpPr/>
          <p:nvPr/>
        </p:nvSpPr>
        <p:spPr>
          <a:xfrm>
            <a:off x="5486400" y="36214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Genetic + clinical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→ draft report</a:t>
            </a: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DCCFD9D-B700-A841-8CAD-FFF84C79753F}"/>
              </a:ext>
            </a:extLst>
          </p:cNvPr>
          <p:cNvSpPr/>
          <p:nvPr/>
        </p:nvSpPr>
        <p:spPr>
          <a:xfrm>
            <a:off x="7187184" y="320040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4A6A"/>
                </a:solidFill>
              </a:rPr>
              <a:t>→</a:t>
            </a:r>
            <a:endParaRPr lang="en-US" sz="11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46C54CAA-99EF-8307-8C57-032DE1F8C1D0}"/>
              </a:ext>
            </a:extLst>
          </p:cNvPr>
          <p:cNvSpPr/>
          <p:nvPr/>
        </p:nvSpPr>
        <p:spPr>
          <a:xfrm>
            <a:off x="7315200" y="2907792"/>
            <a:ext cx="1719072" cy="1261872"/>
          </a:xfrm>
          <a:prstGeom prst="rect">
            <a:avLst/>
          </a:prstGeom>
          <a:solidFill>
            <a:srgbClr val="122035"/>
          </a:solidFill>
          <a:ln w="6350">
            <a:solidFill>
              <a:srgbClr val="1A3A5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12F85D86-4DE4-4097-58BE-62DFA89E2D23}"/>
              </a:ext>
            </a:extLst>
          </p:cNvPr>
          <p:cNvSpPr/>
          <p:nvPr/>
        </p:nvSpPr>
        <p:spPr>
          <a:xfrm>
            <a:off x="7315200" y="2907792"/>
            <a:ext cx="1719072" cy="50292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D101C3A-D3D0-5F75-42EC-EF3AF9FEA72C}"/>
              </a:ext>
            </a:extLst>
          </p:cNvPr>
          <p:cNvSpPr/>
          <p:nvPr/>
        </p:nvSpPr>
        <p:spPr>
          <a:xfrm>
            <a:off x="7315200" y="2944368"/>
            <a:ext cx="329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4A3B8"/>
                </a:solidFill>
              </a:rPr>
              <a:t>3</a:t>
            </a:r>
            <a:endParaRPr lang="en-US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AFCC3F40-FFC8-9D83-6955-9BED9E8A85EB}"/>
              </a:ext>
            </a:extLst>
          </p:cNvPr>
          <p:cNvSpPr/>
          <p:nvPr/>
        </p:nvSpPr>
        <p:spPr>
          <a:xfrm>
            <a:off x="7315200" y="315361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Triage &amp;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Treatment</a:t>
            </a:r>
            <a:endParaRPr lang="en-US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2B3D41E2-3A82-E910-E501-742461E9500D}"/>
              </a:ext>
            </a:extLst>
          </p:cNvPr>
          <p:cNvSpPr/>
          <p:nvPr/>
        </p:nvSpPr>
        <p:spPr>
          <a:xfrm>
            <a:off x="7315200" y="36214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5A7A"/>
                </a:solidFill>
              </a:rPr>
              <a:t>Severity ranking 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A5A7A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7BC34D6D-9310-D571-58FB-1B0B5926A297}"/>
              </a:ext>
            </a:extLst>
          </p:cNvPr>
          <p:cNvSpPr/>
          <p:nvPr/>
        </p:nvSpPr>
        <p:spPr>
          <a:xfrm>
            <a:off x="5486400" y="4215103"/>
            <a:ext cx="171907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CEEFAE70-68A7-FC49-0849-8D453B9D6DF8}"/>
              </a:ext>
            </a:extLst>
          </p:cNvPr>
          <p:cNvSpPr/>
          <p:nvPr/>
        </p:nvSpPr>
        <p:spPr>
          <a:xfrm>
            <a:off x="5431536" y="42062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0D1B2A"/>
                </a:solidFill>
              </a:rPr>
              <a:t>⭐  HACKATHON FOCUS</a:t>
            </a:r>
            <a:endParaRPr lang="en-US" sz="6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507E377F-DA05-8AAE-B8CD-F065664AB55A}"/>
              </a:ext>
            </a:extLst>
          </p:cNvPr>
          <p:cNvSpPr/>
          <p:nvPr/>
        </p:nvSpPr>
        <p:spPr>
          <a:xfrm>
            <a:off x="3657600" y="4206240"/>
            <a:ext cx="1719072" cy="201168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77A97255-48D9-A432-01EC-C8094A014381}"/>
              </a:ext>
            </a:extLst>
          </p:cNvPr>
          <p:cNvSpPr/>
          <p:nvPr/>
        </p:nvSpPr>
        <p:spPr>
          <a:xfrm>
            <a:off x="3657600" y="42062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94A3B8"/>
                </a:solidFill>
              </a:rPr>
              <a:t>ROADMAP</a:t>
            </a:r>
            <a:endParaRPr lang="en-US" sz="6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BDDE0D97-4FFB-5630-4560-FB8E968FAF2A}"/>
              </a:ext>
            </a:extLst>
          </p:cNvPr>
          <p:cNvSpPr/>
          <p:nvPr/>
        </p:nvSpPr>
        <p:spPr>
          <a:xfrm>
            <a:off x="7315200" y="4215103"/>
            <a:ext cx="1719072" cy="201168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8D9C6A9E-B175-8108-5928-FE281025839A}"/>
              </a:ext>
            </a:extLst>
          </p:cNvPr>
          <p:cNvSpPr/>
          <p:nvPr/>
        </p:nvSpPr>
        <p:spPr>
          <a:xfrm>
            <a:off x="7205472" y="42062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94A3B8"/>
                </a:solidFill>
              </a:rPr>
              <a:t>ROADMAP</a:t>
            </a:r>
            <a:endParaRPr lang="en-US" sz="6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F2CBD362-3EAD-F5BE-4995-0B5185E48E2F}"/>
              </a:ext>
            </a:extLst>
          </p:cNvPr>
          <p:cNvSpPr/>
          <p:nvPr/>
        </p:nvSpPr>
        <p:spPr>
          <a:xfrm>
            <a:off x="3657600" y="4480560"/>
            <a:ext cx="5486400" cy="658368"/>
          </a:xfrm>
          <a:prstGeom prst="rect">
            <a:avLst/>
          </a:prstGeom>
          <a:solidFill>
            <a:srgbClr val="120820"/>
          </a:solidFill>
          <a:ln w="12700">
            <a:solidFill>
              <a:srgbClr val="120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62C276A2-0CF1-3917-E2A6-67954717C41B}"/>
              </a:ext>
            </a:extLst>
          </p:cNvPr>
          <p:cNvSpPr/>
          <p:nvPr/>
        </p:nvSpPr>
        <p:spPr>
          <a:xfrm>
            <a:off x="3657600" y="4480560"/>
            <a:ext cx="50292" cy="6583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A4DC9A7A-B322-AAF1-446A-3821485C5D59}"/>
              </a:ext>
            </a:extLst>
          </p:cNvPr>
          <p:cNvSpPr/>
          <p:nvPr/>
        </p:nvSpPr>
        <p:spPr>
          <a:xfrm>
            <a:off x="3767328" y="4517136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8F9FA"/>
                </a:solidFill>
              </a:rPr>
              <a:t>💊  An approved gene therapy exists (Luxturna/voretigene neparvovec). Patients aren't receiving it fast enough. The pipeline is broken — Magic Gene fixes Step 2 today.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50715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98731-DBC6-F468-FE3E-0215F6F0D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AD6248D-4511-E8BC-F5D8-7B7FBBD83F32}"/>
              </a:ext>
            </a:extLst>
          </p:cNvPr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080AF7-8752-C095-5AE0-AA4A951522EC}"/>
              </a:ext>
            </a:extLst>
          </p:cNvPr>
          <p:cNvSpPr/>
          <p:nvPr/>
        </p:nvSpPr>
        <p:spPr>
          <a:xfrm>
            <a:off x="237744" y="256032"/>
            <a:ext cx="2286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CFF2DA-E85E-7C26-71DC-23E90DB60919}"/>
              </a:ext>
            </a:extLst>
          </p:cNvPr>
          <p:cNvSpPr/>
          <p:nvPr/>
        </p:nvSpPr>
        <p:spPr>
          <a:xfrm>
            <a:off x="237744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HSIL HACKATHON 2026  —  APRIL 11</a:t>
            </a:r>
            <a:endParaRPr lang="en-US" sz="6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37BD91-871D-B5FE-2D44-ADBCB0C2E13D}"/>
              </a:ext>
            </a:extLst>
          </p:cNvPr>
          <p:cNvSpPr/>
          <p:nvPr/>
        </p:nvSpPr>
        <p:spPr>
          <a:xfrm>
            <a:off x="237744" y="502920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</a:t>
            </a:r>
            <a:r>
              <a:rPr lang="en-US" sz="46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4600" dirty="0">
              <a:solidFill>
                <a:srgbClr val="92D050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017388-0F72-F527-C8A0-085A3454DC9C}"/>
              </a:ext>
            </a:extLst>
          </p:cNvPr>
          <p:cNvSpPr/>
          <p:nvPr/>
        </p:nvSpPr>
        <p:spPr>
          <a:xfrm>
            <a:off x="237743" y="1143000"/>
            <a:ext cx="2834319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2BA238-9D41-7BD6-7EB7-65F18EE9BFA2}"/>
              </a:ext>
            </a:extLst>
          </p:cNvPr>
          <p:cNvSpPr/>
          <p:nvPr/>
        </p:nvSpPr>
        <p:spPr>
          <a:xfrm>
            <a:off x="237744" y="1344168"/>
            <a:ext cx="32433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A8D8E4"/>
                </a:solidFill>
                <a:latin typeface="Calibri" pitchFamily="34" charset="0"/>
                <a:cs typeface="Calibri" pitchFamily="34" charset="-120"/>
              </a:rPr>
              <a:t>Integrate </a:t>
            </a:r>
            <a:r>
              <a:rPr lang="en-US" b="1" i="1" u="sng" dirty="0">
                <a:solidFill>
                  <a:srgbClr val="A8D8E4"/>
                </a:solidFill>
                <a:latin typeface="Calibri" pitchFamily="34" charset="0"/>
                <a:cs typeface="Calibri" pitchFamily="34" charset="-120"/>
              </a:rPr>
              <a:t>patient history </a:t>
            </a:r>
            <a:r>
              <a:rPr lang="en-US" b="1" i="1" dirty="0">
                <a:solidFill>
                  <a:srgbClr val="A8D8E4"/>
                </a:solidFill>
                <a:latin typeface="Calibri" pitchFamily="34" charset="0"/>
                <a:cs typeface="Calibri" pitchFamily="34" charset="-120"/>
              </a:rPr>
              <a:t>clinical data with </a:t>
            </a:r>
            <a:r>
              <a:rPr lang="en-US" b="1" i="1" u="sng" dirty="0">
                <a:solidFill>
                  <a:srgbClr val="A8D8E4"/>
                </a:solidFill>
                <a:latin typeface="Calibri" pitchFamily="34" charset="0"/>
                <a:cs typeface="Calibri" pitchFamily="34" charset="-120"/>
              </a:rPr>
              <a:t>variant testing</a:t>
            </a:r>
            <a:endParaRPr lang="en-US" b="1" u="sng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C6CBFE0-22BB-F6EC-2649-48FBFD2CB85D}"/>
              </a:ext>
            </a:extLst>
          </p:cNvPr>
          <p:cNvSpPr/>
          <p:nvPr/>
        </p:nvSpPr>
        <p:spPr>
          <a:xfrm>
            <a:off x="215114" y="3566159"/>
            <a:ext cx="3127248" cy="1288487"/>
          </a:xfrm>
          <a:prstGeom prst="rect">
            <a:avLst/>
          </a:prstGeom>
          <a:solidFill>
            <a:srgbClr val="0D2035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FB877D-E342-AAC3-CB20-365685A3F643}"/>
              </a:ext>
            </a:extLst>
          </p:cNvPr>
          <p:cNvSpPr/>
          <p:nvPr/>
        </p:nvSpPr>
        <p:spPr>
          <a:xfrm>
            <a:off x="295335" y="2136439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</a:rPr>
              <a:t>Competitive Landscape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F22A8BB-EB5B-ACF5-6156-DBE5553264FB}"/>
              </a:ext>
            </a:extLst>
          </p:cNvPr>
          <p:cNvSpPr/>
          <p:nvPr/>
        </p:nvSpPr>
        <p:spPr>
          <a:xfrm>
            <a:off x="347472" y="2449948"/>
            <a:ext cx="2926080" cy="84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8F9FA"/>
                </a:solidFill>
              </a:rPr>
              <a:t>Lookup databases such as Franklin, record platforms for electronic medical records</a:t>
            </a: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F2FA4E6-3824-84F0-08D7-706E2AE99BA2}"/>
              </a:ext>
            </a:extLst>
          </p:cNvPr>
          <p:cNvSpPr/>
          <p:nvPr/>
        </p:nvSpPr>
        <p:spPr>
          <a:xfrm>
            <a:off x="286191" y="3661855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Business Model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D3A842B-6E9C-C412-50BC-618DD88AEEF9}"/>
              </a:ext>
            </a:extLst>
          </p:cNvPr>
          <p:cNvSpPr/>
          <p:nvPr/>
        </p:nvSpPr>
        <p:spPr>
          <a:xfrm>
            <a:off x="3364992" y="4572"/>
            <a:ext cx="5779008" cy="45719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92D050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C4485D9-3961-B9E1-EB48-15DC39C03AFF}"/>
              </a:ext>
            </a:extLst>
          </p:cNvPr>
          <p:cNvSpPr/>
          <p:nvPr/>
        </p:nvSpPr>
        <p:spPr>
          <a:xfrm>
            <a:off x="3481137" y="241095"/>
            <a:ext cx="51755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3000" dirty="0">
              <a:solidFill>
                <a:srgbClr val="92D050"/>
              </a:solidFill>
            </a:endParaRPr>
          </a:p>
        </p:txBody>
      </p:sp>
      <p:sp>
        <p:nvSpPr>
          <p:cNvPr id="2" name="Text 12">
            <a:extLst>
              <a:ext uri="{FF2B5EF4-FFF2-40B4-BE49-F238E27FC236}">
                <a16:creationId xmlns:a16="http://schemas.microsoft.com/office/drawing/2014/main" id="{0405757E-A208-CEE8-C365-50A261ED8D7D}"/>
              </a:ext>
            </a:extLst>
          </p:cNvPr>
          <p:cNvSpPr/>
          <p:nvPr/>
        </p:nvSpPr>
        <p:spPr>
          <a:xfrm>
            <a:off x="338328" y="3944503"/>
            <a:ext cx="2926080" cy="84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8F9FA"/>
                </a:solidFill>
              </a:rPr>
              <a:t>Business to business</a:t>
            </a:r>
          </a:p>
          <a:p>
            <a:pPr marL="0" indent="0">
              <a:buNone/>
            </a:pPr>
            <a:r>
              <a:rPr lang="en-US" dirty="0">
                <a:solidFill>
                  <a:srgbClr val="F8F9FA"/>
                </a:solidFill>
              </a:rPr>
              <a:t>Subscription/Licensing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292A554C-D1E5-AB68-21B1-0493ACBBD133}"/>
              </a:ext>
            </a:extLst>
          </p:cNvPr>
          <p:cNvSpPr/>
          <p:nvPr/>
        </p:nvSpPr>
        <p:spPr>
          <a:xfrm>
            <a:off x="3566160" y="1043480"/>
            <a:ext cx="5340096" cy="3811166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Niche</a:t>
            </a:r>
            <a:r>
              <a:rPr lang="en-US" sz="1600" dirty="0">
                <a:solidFill>
                  <a:schemeClr val="bg1"/>
                </a:solidFill>
              </a:rPr>
              <a:t>: inherited retinal diseases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Clear mutation-disease correlation with available gene therapy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Market</a:t>
            </a:r>
            <a:r>
              <a:rPr lang="en-US" sz="1600" dirty="0">
                <a:solidFill>
                  <a:schemeClr val="bg1"/>
                </a:solidFill>
              </a:rPr>
              <a:t>: genetic testing laboratories, hospitals, eye clinics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Users</a:t>
            </a:r>
            <a:r>
              <a:rPr lang="en-US" sz="1600" dirty="0">
                <a:solidFill>
                  <a:schemeClr val="bg1"/>
                </a:solidFill>
              </a:rPr>
              <a:t>: molecular biologists, geneticists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Pilot</a:t>
            </a:r>
            <a:r>
              <a:rPr lang="en-US" sz="1600" dirty="0">
                <a:solidFill>
                  <a:schemeClr val="bg1"/>
                </a:solidFill>
              </a:rPr>
              <a:t>: one hospital department with de-identified data → validate data and publish for transparency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Expand</a:t>
            </a:r>
            <a:r>
              <a:rPr lang="en-US" sz="1600" dirty="0">
                <a:solidFill>
                  <a:schemeClr val="bg1"/>
                </a:solidFill>
              </a:rPr>
              <a:t>: other genes, </a:t>
            </a:r>
            <a:r>
              <a:rPr lang="en-US" sz="1600">
                <a:solidFill>
                  <a:schemeClr val="bg1"/>
                </a:solidFill>
              </a:rPr>
              <a:t>other diseases, other </a:t>
            </a:r>
            <a:r>
              <a:rPr lang="en-US" sz="1600" dirty="0">
                <a:solidFill>
                  <a:schemeClr val="bg1"/>
                </a:solidFill>
              </a:rPr>
              <a:t>departments such as oncology, cardiology</a:t>
            </a:r>
          </a:p>
        </p:txBody>
      </p:sp>
    </p:spTree>
    <p:extLst>
      <p:ext uri="{BB962C8B-B14F-4D97-AF65-F5344CB8AC3E}">
        <p14:creationId xmlns:p14="http://schemas.microsoft.com/office/powerpoint/2010/main" val="4287912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E577B-A923-EAD5-8DC1-2A40D7F0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81D1BBC-A910-6C83-1D50-CC1B357644C5}"/>
              </a:ext>
            </a:extLst>
          </p:cNvPr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A5996A-0741-A990-B589-85B30C7AFD83}"/>
              </a:ext>
            </a:extLst>
          </p:cNvPr>
          <p:cNvSpPr/>
          <p:nvPr/>
        </p:nvSpPr>
        <p:spPr>
          <a:xfrm>
            <a:off x="237744" y="256032"/>
            <a:ext cx="2286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21D994-3D5A-2314-AB8D-F0F22F50DA8C}"/>
              </a:ext>
            </a:extLst>
          </p:cNvPr>
          <p:cNvSpPr/>
          <p:nvPr/>
        </p:nvSpPr>
        <p:spPr>
          <a:xfrm>
            <a:off x="237744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HSIL HACKATHON 2026  —  APRIL 11</a:t>
            </a:r>
            <a:endParaRPr lang="en-US" sz="6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8674D8-CF50-AED2-3FF1-73EF2C90EBEB}"/>
              </a:ext>
            </a:extLst>
          </p:cNvPr>
          <p:cNvSpPr/>
          <p:nvPr/>
        </p:nvSpPr>
        <p:spPr>
          <a:xfrm>
            <a:off x="754912" y="714721"/>
            <a:ext cx="7634176" cy="2534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</a:t>
            </a:r>
            <a:r>
              <a:rPr lang="en-US" sz="100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10000" dirty="0">
              <a:solidFill>
                <a:srgbClr val="92D050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B226FB5-8EE5-9ECE-6D06-E51D18196311}"/>
              </a:ext>
            </a:extLst>
          </p:cNvPr>
          <p:cNvSpPr/>
          <p:nvPr/>
        </p:nvSpPr>
        <p:spPr>
          <a:xfrm>
            <a:off x="1380743" y="2759148"/>
            <a:ext cx="6402289" cy="217968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77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92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9E0C9-D793-2A9D-E3D9-EEF0204B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29BEFD-5C79-11E2-D0C3-DB27D12B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78" b="12005"/>
          <a:stretch>
            <a:fillRect/>
          </a:stretch>
        </p:blipFill>
        <p:spPr>
          <a:xfrm>
            <a:off x="287079" y="0"/>
            <a:ext cx="8569842" cy="481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52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37744" y="256032"/>
            <a:ext cx="2286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7744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HSIL HACKATHON 2026  —  APRIL 11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237744" y="502920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</a:t>
            </a:r>
            <a:r>
              <a:rPr lang="en-US" sz="46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4600" dirty="0">
              <a:solidFill>
                <a:srgbClr val="92D05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3" y="1143000"/>
            <a:ext cx="2834319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" y="1344168"/>
            <a:ext cx="32433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A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assistant for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i="1" dirty="0">
                <a:solidFill>
                  <a:srgbClr val="A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retinal disease</a:t>
            </a:r>
            <a:endParaRPr lang="en-US" sz="2000" b="1" dirty="0"/>
          </a:p>
        </p:txBody>
      </p:sp>
      <p:sp>
        <p:nvSpPr>
          <p:cNvPr id="11" name="Shape 9"/>
          <p:cNvSpPr/>
          <p:nvPr/>
        </p:nvSpPr>
        <p:spPr>
          <a:xfrm>
            <a:off x="210312" y="1975104"/>
            <a:ext cx="3127248" cy="1435608"/>
          </a:xfrm>
          <a:prstGeom prst="rect">
            <a:avLst/>
          </a:prstGeom>
          <a:solidFill>
            <a:srgbClr val="0D2035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5335" y="2040745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Addresses HSIL Challenges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" y="235425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8F9FA"/>
                </a:solidFill>
              </a:rPr>
              <a:t>#1  EHR Analysis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7472" y="259199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8F9FA"/>
                </a:solidFill>
              </a:rPr>
              <a:t>#4  Fragmentation of Care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7472" y="2882157"/>
            <a:ext cx="2926080" cy="391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8F9FA"/>
                </a:solidFill>
              </a:rPr>
              <a:t>#6  Healthcare Worker Shortage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10312" y="3484680"/>
            <a:ext cx="3127248" cy="1369967"/>
          </a:xfrm>
          <a:prstGeom prst="rect">
            <a:avLst/>
          </a:prstGeom>
          <a:solidFill>
            <a:srgbClr val="0A1825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6191" y="356616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</a:rPr>
              <a:t>Post-Hackathon Roadmap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01752" y="3954126"/>
            <a:ext cx="2944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  Step 1: AI variant filtering from sequencing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" y="4334256"/>
            <a:ext cx="2944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→  Step 2: Patient report generation  ← today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" y="4717731"/>
            <a:ext cx="2944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  Step 3: AI triage &amp; treatment prioritisation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0" y="0"/>
            <a:ext cx="5486400" cy="502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49040" y="91440"/>
            <a:ext cx="1737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</a:t>
            </a:r>
            <a:endParaRPr lang="en-US" sz="6800" dirty="0"/>
          </a:p>
        </p:txBody>
      </p:sp>
      <p:sp>
        <p:nvSpPr>
          <p:cNvPr id="25" name="Text 23"/>
          <p:cNvSpPr/>
          <p:nvPr/>
        </p:nvSpPr>
        <p:spPr>
          <a:xfrm>
            <a:off x="5138928" y="568234"/>
            <a:ext cx="10244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63378" y="219456"/>
            <a:ext cx="36576" cy="1115568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64224" y="109728"/>
            <a:ext cx="2688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from genetic test 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patient report — today.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Clinicians are drowning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in manual data wrangling.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0" y="1385971"/>
            <a:ext cx="1737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0" y="1385971"/>
            <a:ext cx="1737360" cy="502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0" y="1440835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1/2000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57600" y="1907179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people worldwide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affected by IRDs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0" y="1385971"/>
            <a:ext cx="1737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0" y="1385971"/>
            <a:ext cx="173736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0" y="1440835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AU$5M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86400" y="1907179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per person per year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in healthcare costs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15200" y="1385971"/>
            <a:ext cx="1737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15200" y="1385971"/>
            <a:ext cx="173736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0" y="1440835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1/20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315200" y="1907179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people affected by genetic diseases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657600" y="265176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The Pipeline — where Magic Gene sits: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57600" y="2907792"/>
            <a:ext cx="1719072" cy="1261872"/>
          </a:xfrm>
          <a:prstGeom prst="rect">
            <a:avLst/>
          </a:prstGeom>
          <a:solidFill>
            <a:srgbClr val="122035"/>
          </a:solidFill>
          <a:ln w="6350">
            <a:solidFill>
              <a:srgbClr val="1A3A5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57600" y="2907792"/>
            <a:ext cx="1719072" cy="50292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0" y="29443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1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3657600" y="32918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Variant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Filtering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657600" y="37490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5A7A"/>
                </a:solidFill>
              </a:rPr>
              <a:t>Sequencing 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A5A7A"/>
                </a:solidFill>
              </a:rPr>
              <a:t>relevant variants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358384" y="320040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4A6A"/>
                </a:solidFill>
              </a:rPr>
              <a:t>→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0" y="2907792"/>
            <a:ext cx="1719072" cy="1261872"/>
          </a:xfrm>
          <a:prstGeom prst="rect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486400" y="2907792"/>
            <a:ext cx="1719072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86400" y="29443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</a:rPr>
              <a:t>2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486400" y="32918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Report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Generation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486400" y="37490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8E4"/>
                </a:solidFill>
              </a:rPr>
              <a:t>Genetic + clinical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8D8E4"/>
                </a:solidFill>
              </a:rPr>
              <a:t>→ draft report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187184" y="320040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4A6A"/>
                </a:solidFill>
              </a:rPr>
              <a:t>→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15200" y="2907792"/>
            <a:ext cx="1719072" cy="1261872"/>
          </a:xfrm>
          <a:prstGeom prst="rect">
            <a:avLst/>
          </a:prstGeom>
          <a:solidFill>
            <a:srgbClr val="122035"/>
          </a:solidFill>
          <a:ln w="6350">
            <a:solidFill>
              <a:srgbClr val="1A3A5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315200" y="2907792"/>
            <a:ext cx="1719072" cy="50292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315200" y="29443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3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7315200" y="32918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Triage &amp;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Treatment</a:t>
            </a: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315200" y="37490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5A7A"/>
                </a:solidFill>
              </a:rPr>
              <a:t>Severity ranking 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A5A7A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486400" y="4215103"/>
            <a:ext cx="171907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431536" y="42062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0D1B2A"/>
                </a:solidFill>
              </a:rPr>
              <a:t>⭐  HACKATHON FOCUS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657600" y="4206240"/>
            <a:ext cx="1719072" cy="201168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57600" y="42062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94A3B8"/>
                </a:solidFill>
              </a:rPr>
              <a:t>ROADMAP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15200" y="4215103"/>
            <a:ext cx="1719072" cy="201168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205472" y="42062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94A3B8"/>
                </a:solidFill>
              </a:rPr>
              <a:t>ROADMAP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3657600" y="4480560"/>
            <a:ext cx="5486400" cy="658368"/>
          </a:xfrm>
          <a:prstGeom prst="rect">
            <a:avLst/>
          </a:prstGeom>
          <a:solidFill>
            <a:srgbClr val="120820"/>
          </a:solidFill>
          <a:ln w="12700">
            <a:solidFill>
              <a:srgbClr val="120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657600" y="4480560"/>
            <a:ext cx="50292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767328" y="4517136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8F9FA"/>
                </a:solidFill>
              </a:rPr>
              <a:t>💊  An approved gene therapy exists (Luxturna/voretigene neparvovec). Patients aren't receiving it fast enough. The pipeline is broken — Magic Gene fixes Step 2 today.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2C39A"/>
                </a:solidFill>
              </a:rPr>
              <a:t>DEMO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7498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FFFFFF"/>
                </a:solidFill>
              </a:rPr>
              <a:t>DEMO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70432" y="12801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Magic Gene in action — plain language query → patient records → AI draft → clinician sign-off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" y="804672"/>
            <a:ext cx="8814816" cy="41696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592" y="804672"/>
            <a:ext cx="8814816" cy="256032"/>
          </a:xfrm>
          <a:prstGeom prst="rect">
            <a:avLst/>
          </a:prstGeom>
          <a:solidFill>
            <a:srgbClr val="F3F4F6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100584" cy="1005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" y="868680"/>
            <a:ext cx="100584" cy="10058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" y="868680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850392"/>
            <a:ext cx="5029200" cy="1554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" y="850392"/>
            <a:ext cx="4992624" cy="155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</a:rPr>
              <a:t>app.magicgene.health/patient/RAVI-DEMO-003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1060704"/>
            <a:ext cx="1371600" cy="39136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7744" y="112471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Magic Gene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1536192"/>
            <a:ext cx="13716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" y="156362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🔍  Search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7744" y="194767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📋  Patients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7744" y="233172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📄  Reports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7744" y="271576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✏️  Drafts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7744" y="309981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⚙️  Settings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64208" y="1078992"/>
            <a:ext cx="7315200" cy="329184"/>
          </a:xfrm>
          <a:prstGeom prst="rect">
            <a:avLst/>
          </a:prstGeom>
          <a:solidFill>
            <a:srgbClr val="F9FAFB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719072" y="1097280"/>
            <a:ext cx="720547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4151"/>
                </a:solidFill>
              </a:rPr>
              <a:t>🔍   "Show me Ravi's last cardiology referral, recent bloods and genomic report"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64208" y="932688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64208" y="932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20240" y="9509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28090"/>
                </a:solidFill>
              </a:rPr>
              <a:t>Plain language query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664208" y="1481328"/>
            <a:ext cx="3364992" cy="2871216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37360" y="153619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Patient Record — Ravi (RAVI-DEMO-003)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737360" y="1847088"/>
            <a:ext cx="3218688" cy="283464"/>
          </a:xfrm>
          <a:prstGeom prst="rect">
            <a:avLst/>
          </a:prstGeom>
          <a:solidFill>
            <a:srgbClr val="EBF8FF"/>
          </a:solidFill>
          <a:ln w="508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737360" y="1847088"/>
            <a:ext cx="45720" cy="2834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828800" y="18745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Cardiology Referral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62272" y="18745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Mar 2026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737360" y="2185416"/>
            <a:ext cx="3218688" cy="283464"/>
          </a:xfrm>
          <a:prstGeom prst="rect">
            <a:avLst/>
          </a:prstGeom>
          <a:solidFill>
            <a:srgbClr val="EBF8FF"/>
          </a:solidFill>
          <a:ln w="508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737360" y="2185416"/>
            <a:ext cx="45720" cy="2834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2880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RPE65 Genomic Report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62272" y="22128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Feb 2026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737360" y="2523744"/>
            <a:ext cx="3218688" cy="283464"/>
          </a:xfrm>
          <a:prstGeom prst="rect">
            <a:avLst/>
          </a:prstGeom>
          <a:solidFill>
            <a:srgbClr val="EBF8FF"/>
          </a:solidFill>
          <a:ln w="508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737360" y="2523744"/>
            <a:ext cx="45720" cy="2834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828800" y="25511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Blood Panel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62272" y="25511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Jan 2026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37360" y="2862072"/>
            <a:ext cx="3218688" cy="283464"/>
          </a:xfrm>
          <a:prstGeom prst="rect">
            <a:avLst/>
          </a:prstGeom>
          <a:solidFill>
            <a:srgbClr val="EBF8FF"/>
          </a:solidFill>
          <a:ln w="508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737360" y="2862072"/>
            <a:ext cx="45720" cy="2834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828800" y="28895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ERG Results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62272" y="288950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Jan 2026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37360" y="3200400"/>
            <a:ext cx="45720" cy="2834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828800" y="32278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Ophthalmology Notes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462272" y="32278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Dec 2025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737360" y="3538728"/>
            <a:ext cx="45720" cy="2834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828800" y="35661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Discharge Summary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462272" y="3566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Nov 2025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737360" y="3877056"/>
            <a:ext cx="45720" cy="2834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828800" y="39044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GP Referral Letter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462272" y="39044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Oct 2025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664208" y="1335024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664208" y="1335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20240" y="1353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A896"/>
                </a:solidFill>
              </a:rPr>
              <a:t>Relevant records surfaced instantly — highlighted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93792" y="1481328"/>
            <a:ext cx="3785616" cy="2871216"/>
          </a:xfrm>
          <a:prstGeom prst="rect">
            <a:avLst/>
          </a:prstGeom>
          <a:solidFill>
            <a:srgbClr val="FFFFFF"/>
          </a:solidFill>
          <a:ln w="1143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193792" y="1481328"/>
            <a:ext cx="3785616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248656" y="1508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✍️  AI Draft — Discharge Letter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248656" y="1810512"/>
            <a:ext cx="365760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Dear Dr. Okonkwo,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Re: Ravi [DOB: 12/03/1998]  |  RAVI-DEMO-003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I am writing regarding the above patient who attended our Ophthalmology clinic on 14 March 2026 for review of their inherited retinal dystrophy.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Genetic testing has identified an RPE65 variant (p.Asp87Gly) of uncertain significance. ERG findings confirm severely attenuated scotopic responses (b-wave ~18 µV; ref &gt;150 µV), consistent with rod-predominant dysfunction. OCT shows outer nuclear layer thinning (~42 µm).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Referral to the gene therapy service has been initiated. Patient may be a candidate for voretigene neparvovec (Luxturna) if biallelic pathogenic variants are confirmed.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Please review the attached genomic report for further detail.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394960" y="3977640"/>
            <a:ext cx="17373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394960" y="3977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  Review &amp; Sign Off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223760" y="3977640"/>
            <a:ext cx="1645920" cy="256032"/>
          </a:xfrm>
          <a:prstGeom prst="rect">
            <a:avLst/>
          </a:prstGeom>
          <a:solidFill>
            <a:srgbClr val="0D2035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223760" y="3977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8090"/>
                </a:solidFill>
              </a:rPr>
              <a:t>✎  Edit Draft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193792" y="1335024"/>
            <a:ext cx="219456" cy="21945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193792" y="1335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49824" y="135331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4A261"/>
                </a:solidFill>
              </a:rPr>
              <a:t>AI drafts the letter using patient's own records — clinician edits, not writes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64592" y="4334256"/>
            <a:ext cx="8814816" cy="585216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64592" y="4334256"/>
            <a:ext cx="8814816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84048" y="440740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84048" y="4407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0080" y="442569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8F9FA"/>
                </a:solidFill>
              </a:rPr>
              <a:t>Clinician types plain-language query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596896" y="440740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596896" y="4407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852928" y="442569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8F9FA"/>
                </a:solidFill>
              </a:rPr>
              <a:t>Relevant records surfaced in &lt;5 seconds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809744" y="4407408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809744" y="4407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065776" y="442569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8F9FA"/>
                </a:solidFill>
              </a:rPr>
              <a:t>AI drafts discharge letter from patient data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022592" y="440740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022592" y="4407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278624" y="442569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8F9FA"/>
                </a:solidFill>
              </a:rPr>
              <a:t>Clinician reviews, edits &amp; signs off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751</Words>
  <Application>Microsoft Macintosh PowerPoint</Application>
  <PresentationFormat>On-screen Show (16:9)</PresentationFormat>
  <Paragraphs>180</Paragraphs>
  <Slides>8</Slides>
  <Notes>7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 Gene — HSIL 2026</dc:title>
  <dc:subject>PptxGenJS Presentation</dc:subject>
  <dc:creator>PptxGenJS</dc:creator>
  <cp:lastModifiedBy>Isabel Chin</cp:lastModifiedBy>
  <cp:revision>5</cp:revision>
  <dcterms:created xsi:type="dcterms:W3CDTF">2026-04-10T23:50:20Z</dcterms:created>
  <dcterms:modified xsi:type="dcterms:W3CDTF">2026-04-11T02:11:19Z</dcterms:modified>
</cp:coreProperties>
</file>